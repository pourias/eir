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a348b3ae24492" /><Relationship Type="http://schemas.openxmlformats.org/officeDocument/2006/relationships/extended-properties" Target="/docProps/app.xml" Id="R71403d6adfc04530" /><Relationship Type="http://schemas.openxmlformats.org/officeDocument/2006/relationships/officeDocument" Target="/ppt/presentation.xml" Id="R2ca113158b214c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6b960d776a4c26"/>
  </p:sldMasterIdLst>
  <p:notesMasterIdLst>
    <p:notesMasterId xmlns:r="http://schemas.openxmlformats.org/officeDocument/2006/relationships" r:id="R6780e144d8184b04"/>
  </p:notesMasterIdLst>
  <p:sldIdLst>
    <p:sldId xmlns:r="http://schemas.openxmlformats.org/officeDocument/2006/relationships" id="256" r:id="Re82246e93db04ed6"/>
    <p:sldId xmlns:r="http://schemas.openxmlformats.org/officeDocument/2006/relationships" id="257" r:id="Rc19b4e26ee634465"/>
    <p:sldId xmlns:r="http://schemas.openxmlformats.org/officeDocument/2006/relationships" id="258" r:id="R8d21a87fe266416f"/>
    <p:sldId xmlns:r="http://schemas.openxmlformats.org/officeDocument/2006/relationships" id="259" r:id="Rdf658e4691774c03"/>
    <p:sldId xmlns:r="http://schemas.openxmlformats.org/officeDocument/2006/relationships" id="260" r:id="Rbb1b973c328b4197"/>
    <p:sldId xmlns:r="http://schemas.openxmlformats.org/officeDocument/2006/relationships" id="261" r:id="R4610582bc8274f6f"/>
    <p:sldId xmlns:r="http://schemas.openxmlformats.org/officeDocument/2006/relationships" id="262" r:id="R2d0df7e980fb4a0d"/>
    <p:sldId xmlns:r="http://schemas.openxmlformats.org/officeDocument/2006/relationships" id="263" r:id="R678bf8b197a2406b"/>
    <p:sldId xmlns:r="http://schemas.openxmlformats.org/officeDocument/2006/relationships" id="264" r:id="R43a832268346465d"/>
    <p:sldId xmlns:r="http://schemas.openxmlformats.org/officeDocument/2006/relationships" id="265" r:id="Rc82ff20a96f847a1"/>
    <p:sldId xmlns:r="http://schemas.openxmlformats.org/officeDocument/2006/relationships" id="266" r:id="Rc2d5e06dbddf4eb9"/>
    <p:sldId xmlns:r="http://schemas.openxmlformats.org/officeDocument/2006/relationships" id="267" r:id="Rfa18b293a5f0486a"/>
    <p:sldId xmlns:r="http://schemas.openxmlformats.org/officeDocument/2006/relationships" id="268" r:id="Ra1e8f7bf49f54bfd"/>
    <p:sldId xmlns:r="http://schemas.openxmlformats.org/officeDocument/2006/relationships" id="269" r:id="Rea1e96be3c7447d0"/>
    <p:sldId xmlns:r="http://schemas.openxmlformats.org/officeDocument/2006/relationships" id="270" r:id="R35ed13de64cb4e08"/>
    <p:sldId xmlns:r="http://schemas.openxmlformats.org/officeDocument/2006/relationships" id="271" r:id="R13dd3ff7b6574cdc"/>
    <p:sldId xmlns:r="http://schemas.openxmlformats.org/officeDocument/2006/relationships" id="272" r:id="R798b77c9ffca4311"/>
    <p:sldId xmlns:r="http://schemas.openxmlformats.org/officeDocument/2006/relationships" id="273" r:id="R776dd3a60b8b44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b960d776a4c26" /><Relationship Type="http://schemas.openxmlformats.org/officeDocument/2006/relationships/theme" Target="/ppt/theme/theme1.xml" Id="Ra7e9c14596254c52" /><Relationship Type="http://schemas.openxmlformats.org/officeDocument/2006/relationships/notesMaster" Target="/ppt/notesMasters/notesMaster1.xml" Id="R6780e144d8184b04" /><Relationship Type="http://schemas.openxmlformats.org/officeDocument/2006/relationships/presProps" Target="/ppt/presProps.xml" Id="R3a80a798ffc341d5" /><Relationship Type="http://schemas.openxmlformats.org/officeDocument/2006/relationships/viewProps" Target="/ppt/viewProps.xml" Id="R9d9f1c8326c44106" /><Relationship Type="http://schemas.openxmlformats.org/officeDocument/2006/relationships/tableStyles" Target="/ppt/tableStyles.xml" Id="R60bbe82eb1664a66" /><Relationship Type="http://schemas.openxmlformats.org/officeDocument/2006/relationships/slide" Target="/ppt/slides/slide1.xml" Id="Re82246e93db04ed6" /><Relationship Type="http://schemas.openxmlformats.org/officeDocument/2006/relationships/slide" Target="/ppt/slides/slide2.xml" Id="Rc19b4e26ee634465" /><Relationship Type="http://schemas.openxmlformats.org/officeDocument/2006/relationships/slide" Target="/ppt/slides/slide3.xml" Id="R8d21a87fe266416f" /><Relationship Type="http://schemas.openxmlformats.org/officeDocument/2006/relationships/slide" Target="/ppt/slides/slide4.xml" Id="Rdf658e4691774c03" /><Relationship Type="http://schemas.openxmlformats.org/officeDocument/2006/relationships/slide" Target="/ppt/slides/slide5.xml" Id="Rbb1b973c328b4197" /><Relationship Type="http://schemas.openxmlformats.org/officeDocument/2006/relationships/slide" Target="/ppt/slides/slide6.xml" Id="R4610582bc8274f6f" /><Relationship Type="http://schemas.openxmlformats.org/officeDocument/2006/relationships/slide" Target="/ppt/slides/slide7.xml" Id="R2d0df7e980fb4a0d" /><Relationship Type="http://schemas.openxmlformats.org/officeDocument/2006/relationships/slide" Target="/ppt/slides/slide8.xml" Id="R678bf8b197a2406b" /><Relationship Type="http://schemas.openxmlformats.org/officeDocument/2006/relationships/slide" Target="/ppt/slides/slide9.xml" Id="R43a832268346465d" /><Relationship Type="http://schemas.openxmlformats.org/officeDocument/2006/relationships/slide" Target="/ppt/slides/slide10.xml" Id="Rc82ff20a96f847a1" /><Relationship Type="http://schemas.openxmlformats.org/officeDocument/2006/relationships/slide" Target="/ppt/slides/slide11.xml" Id="Rc2d5e06dbddf4eb9" /><Relationship Type="http://schemas.openxmlformats.org/officeDocument/2006/relationships/slide" Target="/ppt/slides/slide12.xml" Id="Rfa18b293a5f0486a" /><Relationship Type="http://schemas.openxmlformats.org/officeDocument/2006/relationships/slide" Target="/ppt/slides/slide13.xml" Id="Ra1e8f7bf49f54bfd" /><Relationship Type="http://schemas.openxmlformats.org/officeDocument/2006/relationships/slide" Target="/ppt/slides/slide14.xml" Id="Rea1e96be3c7447d0" /><Relationship Type="http://schemas.openxmlformats.org/officeDocument/2006/relationships/slide" Target="/ppt/slides/slide15.xml" Id="R35ed13de64cb4e08" /><Relationship Type="http://schemas.openxmlformats.org/officeDocument/2006/relationships/slide" Target="/ppt/slides/slide16.xml" Id="R13dd3ff7b6574cdc" /><Relationship Type="http://schemas.openxmlformats.org/officeDocument/2006/relationships/slide" Target="/ppt/slides/slide17.xml" Id="R798b77c9ffca4311" /><Relationship Type="http://schemas.openxmlformats.org/officeDocument/2006/relationships/slide" Target="/ppt/slides/slide18.xml" Id="R776dd3a60b8b44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377b804e29347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c317db957341f7" /><Relationship Type="http://schemas.openxmlformats.org/officeDocument/2006/relationships/notesMaster" Target="/ppt/notesMasters/notesMaster1.xml" Id="R5d9f721e94e5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d16dcfe1a14c45" /><Relationship Type="http://schemas.openxmlformats.org/officeDocument/2006/relationships/notesMaster" Target="/ppt/notesMasters/notesMaster1.xml" Id="R80aaee7cb27e49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92989eb03458c" /><Relationship Type="http://schemas.openxmlformats.org/officeDocument/2006/relationships/notesMaster" Target="/ppt/notesMasters/notesMaster1.xml" Id="R2982a5d3cdff49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4914af31ac4c73" /><Relationship Type="http://schemas.openxmlformats.org/officeDocument/2006/relationships/notesMaster" Target="/ppt/notesMasters/notesMaster1.xml" Id="R5db5ea03780b45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61fb377454657" /><Relationship Type="http://schemas.openxmlformats.org/officeDocument/2006/relationships/notesMaster" Target="/ppt/notesMasters/notesMaster1.xml" Id="Rf38c66e8b6a646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bf11778dce449d" /><Relationship Type="http://schemas.openxmlformats.org/officeDocument/2006/relationships/notesMaster" Target="/ppt/notesMasters/notesMaster1.xml" Id="Recd2094171704a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40883288d34a9b" /><Relationship Type="http://schemas.openxmlformats.org/officeDocument/2006/relationships/notesMaster" Target="/ppt/notesMasters/notesMaster1.xml" Id="R27329678bcf04b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791266aba14dbd" /><Relationship Type="http://schemas.openxmlformats.org/officeDocument/2006/relationships/notesMaster" Target="/ppt/notesMasters/notesMaster1.xml" Id="R098e84a416804d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aaf63752384edf" /><Relationship Type="http://schemas.openxmlformats.org/officeDocument/2006/relationships/notesMaster" Target="/ppt/notesMasters/notesMaster1.xml" Id="Rae7e86b4ba1c4d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7958e5e4584641" /><Relationship Type="http://schemas.openxmlformats.org/officeDocument/2006/relationships/notesMaster" Target="/ppt/notesMasters/notesMaster1.xml" Id="R5fca524bdb5841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b648924fa74e81" /><Relationship Type="http://schemas.openxmlformats.org/officeDocument/2006/relationships/notesMaster" Target="/ppt/notesMasters/notesMaster1.xml" Id="R3fc6ea266bde4f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22816e3bc6416e" /><Relationship Type="http://schemas.openxmlformats.org/officeDocument/2006/relationships/notesMaster" Target="/ppt/notesMasters/notesMaster1.xml" Id="R3370a6403d6e44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099ebb6bc04acd" /><Relationship Type="http://schemas.openxmlformats.org/officeDocument/2006/relationships/notesMaster" Target="/ppt/notesMasters/notesMaster1.xml" Id="Rc11246ed0e9148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fd162685d74a46" /><Relationship Type="http://schemas.openxmlformats.org/officeDocument/2006/relationships/notesMaster" Target="/ppt/notesMasters/notesMaster1.xml" Id="R53cbae453d0d46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7b42766f654a3f" /><Relationship Type="http://schemas.openxmlformats.org/officeDocument/2006/relationships/notesMaster" Target="/ppt/notesMasters/notesMaster1.xml" Id="R02a33ca8eb5a45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86a6eb666342e4" /><Relationship Type="http://schemas.openxmlformats.org/officeDocument/2006/relationships/notesMaster" Target="/ppt/notesMasters/notesMaster1.xml" Id="R4cadec8d687747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c5809dac7341cc" /><Relationship Type="http://schemas.openxmlformats.org/officeDocument/2006/relationships/notesMaster" Target="/ppt/notesMasters/notesMaster1.xml" Id="Rfd2bb6a6b14c4c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9f49d3ad2b4eac" /><Relationship Type="http://schemas.openxmlformats.org/officeDocument/2006/relationships/notesMaster" Target="/ppt/notesMasters/notesMaster1.xml" Id="R9a8eadef9ae844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ab127c75a447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975c21d0574f67" /><Relationship Type="http://schemas.openxmlformats.org/officeDocument/2006/relationships/slideLayout" Target="/ppt/slideLayouts/slideLayout2.xml" Id="R5ce3c406655d43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e3c406655d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611ef0303348fb" /><Relationship Type="http://schemas.openxmlformats.org/officeDocument/2006/relationships/notesSlide" Target="/ppt/notesSlides/notesSlide1.xml" Id="Rfe60dc2a4a8146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c5f7988ffb4184" /><Relationship Type="http://schemas.openxmlformats.org/officeDocument/2006/relationships/notesSlide" Target="/ppt/notesSlides/notesSlide2.xml" Id="Rcde399af292b44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45f8bdffe845ce" /><Relationship Type="http://schemas.openxmlformats.org/officeDocument/2006/relationships/notesSlide" Target="/ppt/notesSlides/notesSlide3.xml" Id="Rb2add521941d41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fcfb701c214520" /><Relationship Type="http://schemas.openxmlformats.org/officeDocument/2006/relationships/notesSlide" Target="/ppt/notesSlides/notesSlide4.xml" Id="R1602cb26b38b44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359166858e40ba" /><Relationship Type="http://schemas.openxmlformats.org/officeDocument/2006/relationships/notesSlide" Target="/ppt/notesSlides/notesSlide5.xml" Id="R0e1ea967584c49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0e7eb4c53347f8" /><Relationship Type="http://schemas.openxmlformats.org/officeDocument/2006/relationships/notesSlide" Target="/ppt/notesSlides/notesSlide6.xml" Id="R5073266845234a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83e2162cd04850" /><Relationship Type="http://schemas.openxmlformats.org/officeDocument/2006/relationships/notesSlide" Target="/ppt/notesSlides/notesSlide7.xml" Id="Rc25eb8e60fc042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78009422324d0f" /><Relationship Type="http://schemas.openxmlformats.org/officeDocument/2006/relationships/notesSlide" Target="/ppt/notesSlides/notesSlide8.xml" Id="Ref013ff19fb14d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51ff38d40744bf" /><Relationship Type="http://schemas.openxmlformats.org/officeDocument/2006/relationships/notesSlide" Target="/ppt/notesSlides/notesSlide9.xml" Id="R805ca75d492446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26d92c26504751" /><Relationship Type="http://schemas.openxmlformats.org/officeDocument/2006/relationships/notesSlide" Target="/ppt/notesSlides/notesSlide10.xml" Id="R5c3b14ec1b284d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6cb80766f947b7" /><Relationship Type="http://schemas.openxmlformats.org/officeDocument/2006/relationships/notesSlide" Target="/ppt/notesSlides/notesSlide11.xml" Id="R2ae7d48b4a4441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dee0fc9de74456" /><Relationship Type="http://schemas.openxmlformats.org/officeDocument/2006/relationships/notesSlide" Target="/ppt/notesSlides/notesSlide12.xml" Id="R1ea988d7299c4e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b3fb138be34a0c" /><Relationship Type="http://schemas.openxmlformats.org/officeDocument/2006/relationships/notesSlide" Target="/ppt/notesSlides/notesSlide13.xml" Id="R5c6a3aab19ec44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b38c332ecd43f1" /><Relationship Type="http://schemas.openxmlformats.org/officeDocument/2006/relationships/notesSlide" Target="/ppt/notesSlides/notesSlide14.xml" Id="R884c412dabd841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e4df14f2c84b92" /><Relationship Type="http://schemas.openxmlformats.org/officeDocument/2006/relationships/notesSlide" Target="/ppt/notesSlides/notesSlide15.xml" Id="R11a94ff6831744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e1cd150031490a" /><Relationship Type="http://schemas.openxmlformats.org/officeDocument/2006/relationships/notesSlide" Target="/ppt/notesSlides/notesSlide16.xml" Id="Re13b1ac9bfd340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071416f08f4cf2" /><Relationship Type="http://schemas.openxmlformats.org/officeDocument/2006/relationships/notesSlide" Target="/ppt/notesSlides/notesSlide17.xml" Id="Rbbb4541f3f204a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be7dd5834f4ff1" /><Relationship Type="http://schemas.openxmlformats.org/officeDocument/2006/relationships/notesSlide" Target="/ppt/notesSlides/notesSlide18.xml" Id="Rcfc570664e274c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D084FA-782C-4414-BA86-B7EE7077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CD3A2-B76B-4907-B9E9-99AD0CA3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9CAA7-17D1-40DC-8BB9-00958803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HarborScout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08F3E-6E6A-4A51-9BFD-5F343613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8DAD4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8DAD4"/>
                </a:solidFill>
                <a:latin typeface="Aptos"/>
                <a:ea typeface="Aptos"/>
                <a:cs typeface="Aptos"/>
              </a:rPr>
              <a:t>Micro autonomous surface vessels for dangerous maritime missions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81C3D-11F0-4617-920A-BB85672C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4533"/>
            <a:ext cx="3100388" cy="442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8DA29-4D7C-4C3C-B84D-8A8FB712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218" y="1649730"/>
            <a:ext cx="1240155" cy="413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C7C7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3B042-9AFA-4DB8-9D2A-7AF1BBE7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065" y="1797368"/>
            <a:ext cx="620078" cy="265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7F700-73E9-4DF5-A938-BDA0FB0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0943" y="2565083"/>
            <a:ext cx="2687003" cy="73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22F1C-A9AA-4A95-9712-D6BB0686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218" y="2801303"/>
            <a:ext cx="2096453" cy="442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0B607-8508-4A41-9D9F-285E57A0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0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70F68-3F9F-45E6-9C28-81D6B433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7B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A9C7BE"/>
                </a:solidFill>
                <a:latin typeface="Aptos Mono"/>
                <a:ea typeface="Aptos Mono"/>
                <a:cs typeface="Aptos Mono"/>
              </a:rPr>
              <a:t>Investor pitch deck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E4C01-BDC7-496E-9EF3-71B758EE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A69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A69B"/>
                </a:solidFill>
                <a:latin typeface="Aptos"/>
                <a:ea typeface="Aptos"/>
                <a:cs typeface="Aptos"/>
              </a:rPr>
              <a:t>Working name and assumptions are editable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10D09-99E8-432E-8D3E-A90CC483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DA6DD-35AC-461C-97E7-2429276C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YC-style seed deck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0876E-1C71-4DC3-8184-00FEDC24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01</a:t>
            </a:r>
          </a:p>
        </p:txBody>
      </p:sp>
    </p:spTree>
    <p:extLst>
      <p:ext uri="{BB962C8B-B14F-4D97-AF65-F5344CB8AC3E}">
        <p14:creationId xmlns:p14="http://schemas.microsoft.com/office/powerpoint/2010/main" val="18022873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A4CD66-D0B0-4A8A-B5B4-B6851115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D3FC4-81C3-49B0-AD7D-494BB1E8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NON-OBVIOUS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385F2-ACCD-4648-B30D-428E0D22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Maritime autonomy is moving from demo theater to procurement pressure.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8EEAF-132A-4878-8185-572630B1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B402F-E52A-4D54-BE0D-BCA22232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71BC6-3E79-4E50-B996-68DE5427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C848F-8535-454F-B1DB-A71E8D83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E33B1-CD53-480B-839C-3841090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6A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F66A3"/>
                </a:solidFill>
                <a:latin typeface="Aptos Display"/>
                <a:ea typeface="Aptos Display"/>
                <a:cs typeface="Aptos Display"/>
              </a:rPr>
              <a:t>23+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9A576-71F0-4345-957D-8BFF0249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Unmanned systems tested by Navy Task Force 59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3F617-48D3-4358-BB58-71064884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CA193-EF4B-4F42-9056-C92A63E2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C7C7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C7C7D"/>
                </a:solidFill>
                <a:latin typeface="Aptos Display"/>
                <a:ea typeface="Aptos Display"/>
                <a:cs typeface="Aptos Display"/>
              </a:rPr>
              <a:t>60k+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EBA27-9CA6-4C46-BE6A-3A8C3E0E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62225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Unmanned operating hours reported across exercises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D7F56-339E-4005-AF0C-F87BAFE1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9050B-E1DA-44BC-BD12-420A0311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0703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07035"/>
                </a:solidFill>
                <a:latin typeface="Aptos Display"/>
                <a:ea typeface="Aptos Display"/>
                <a:cs typeface="Aptos Display"/>
              </a:rPr>
              <a:t>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EB68E-03AB-4C5E-B6DA-D68C2FAA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62225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USCG creates robotics and autonomous systems PEO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5C394-29EC-4ACA-8C79-8857DBCB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89466-A45C-42BE-9495-48AF7B09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145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7A4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677A41"/>
                </a:solidFill>
                <a:latin typeface="Aptos Display"/>
                <a:ea typeface="Aptos Display"/>
                <a:cs typeface="Aptos Display"/>
              </a:rPr>
              <a:t>$9.25B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177A3-455E-4084-B0D0-3EBA4A52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62225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Reported Saronic valuation after Series 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86AD4-ACB0-433A-821F-A5E1221C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990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The opportunity is not another generic boat. It is a mission-specific, low-cost sensing platform that gets trusted in real water before incumbents can bundle the workflow.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4EE81-EFD9-4672-A1CF-E05EBE96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55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Sources: YC seed deck template; EIR memo 2026-05-26; Navy, USCG, Saronic, Saildrone, HavocAI, MARTAC, Textron, Hydronalix, MarketsandMarkets, Fortune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6002824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B9343B-EA19-4E07-B342-2AB17631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4EE57-F4D4-488A-8EF5-E0DA8305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7B39A-BBD6-4BF6-A360-9AAD4BA2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The most dangerous maritime searches still put people and expensive assets in harm's way.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7EEC2-D9E0-4E3A-A838-AE464C08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D4063-08D1-4635-8A7E-EE6CB7E6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9D779-AF9E-4F12-B710-0D388C0E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A52AC-B786-4AD1-AC24-5E863623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14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4AE1E-14F7-4864-B004-AE602C6F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6134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Search and rescue needs fast coverage when conditions are bad and minutes matter.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C88DB-338A-41F4-B6B8-82A2B8D1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F0BA6-57A3-45C5-800E-1AE649F5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6134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Mine-like object and underwater debris detection is slow, risky, and sensor-heavy.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DA1A6-9321-467F-A950-E27195D1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4BE71-731E-4A8F-9B24-8C481D37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6134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Ports, bridges, rivers, and harbors need persistent domain awareness without crewing every patrol.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A73A0-DC20-4C54-A612-03D8AED9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7D81E-41A8-4F72-81D3-AF243F1F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6134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Defense and public-safety teams face budget, staffing, and launch/recovery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05CD1-7FA4-4BB9-9AC8-81B1A590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275AC-ED37-4FAA-8541-57DF1BBB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1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6A6DA-FBBF-480A-A357-EB127017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1600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4F7E2-FEDD-450B-876A-CD3F2525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5783"/>
            <a:ext cx="1640205" cy="234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90823-C749-41F4-9154-3271C32E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157" y="2663952"/>
            <a:ext cx="656082" cy="218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84A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3FD0A-0B70-4CCB-89AB-F10FFA96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586" y="2742057"/>
            <a:ext cx="328041" cy="140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C43D1-18BD-4203-9582-B1B71BE1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947" y="3148203"/>
            <a:ext cx="1421511" cy="39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B0308-F6B1-4952-AAEF-98BD402A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157" y="3273171"/>
            <a:ext cx="1109091" cy="23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5D1E5-C3B5-48AC-BAA3-BCD2C183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33950"/>
            <a:ext cx="3286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Crewed boats, helicopters, divers, and fixed sensors are too scarce or too slow for the full mission load.</a:t>
            </a:r>
          </a:p>
        </p:txBody>
      </p:sp>
    </p:spTree>
    <p:extLst>
      <p:ext uri="{BB962C8B-B14F-4D97-AF65-F5344CB8AC3E}">
        <p14:creationId xmlns:p14="http://schemas.microsoft.com/office/powerpoint/2010/main" val="466830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A2FE5-E3DC-4707-8A37-E0758B88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E55E0-D50A-47F6-8030-8C7F5B8D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CURRENT ALTERNATIVES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C9C7D-613F-403E-8F18-75146511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Existing options force a tradeoff between size, cost, persistence, and safety.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FFA75-9293-449E-A3AD-01C1B191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D9820-2BD1-4064-B263-7A29033A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C1CAE-C762-4B81-A4F5-6208012F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0AE2F-A40F-4E1A-BB9C-77511C68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68629-7024-4E44-9B8A-1189FCC2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A3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B84A3B"/>
                </a:solidFill>
                <a:latin typeface="Aptos Mono"/>
                <a:ea typeface="Aptos Mono"/>
                <a:cs typeface="Aptos Mono"/>
              </a:rPr>
              <a:t>Crewed small boats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A88AD-4F0C-483D-9557-D61A383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Flexible but expensive, crew-constrained, and exposed to threat or weather.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D01BF-C5B2-4CB2-BE9E-0CD4F034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51F7D-D009-44D9-A56E-37FC9558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050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rPr>
              <a:t>Aerial drones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B5C44-4D96-4BCE-9A8D-9C6CAD57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9825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Fast to deploy but limited by endurance, payload, weather, and surface/underwater sensing.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11A48-6AAD-4289-8EEF-654B36FE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64A0D-AB4F-4B7F-B219-A3240BBF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50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rPr>
              <a:t>Large USVs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2550B-67B1-4867-A05F-BFD07C82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9825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Capable but expensive, harder to launch, and often overkill for harbor-scale missions.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0B935-5E78-40D6-8E91-A75FE5A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E9213-8608-4962-9063-333A04AA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050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rPr>
              <a:t>Fixed sensors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FC72E-A835-4F8F-BD61-7EF0F670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9825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Persistent but static, blind outside coverage zones, and slow to redeploy.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F9164-2C1E-4DE5-A253-D9872EBE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019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HarborScout's wedge: small enough to deploy frequently, smart enough to classify mission objects, cheap enough to put where crewed assets cannot wait.</a:t>
            </a:r>
          </a:p>
        </p:txBody>
      </p:sp>
    </p:spTree>
    <p:extLst>
      <p:ext uri="{BB962C8B-B14F-4D97-AF65-F5344CB8AC3E}">
        <p14:creationId xmlns:p14="http://schemas.microsoft.com/office/powerpoint/2010/main" val="9281595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688F1-26A9-490A-B5C2-D51F01D5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5D41F-5E64-42F2-AF54-1EBF0828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0AEDC-92D2-4736-AFB0-5D27C26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 very small autonomous surface vessel built around mission sensing, not boat novelty.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88867-DA8D-494D-877C-06EE2433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B6F02-DD1C-495D-80E4-DADE9D28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5AA21-450B-4CA3-87DE-84403751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EA590-DEEE-4F37-8527-A83831CC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6634"/>
            <a:ext cx="2720340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94906-A87C-4D43-83AD-1186DF07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586" y="2501646"/>
            <a:ext cx="1088136" cy="3627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C7C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0F5D4-0E3E-42F5-91D0-1AD2ACF4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078" y="2631186"/>
            <a:ext cx="544068" cy="2331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E3F37-658E-4207-BFC6-018A21E7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06" y="3304794"/>
            <a:ext cx="2357628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32345-7672-46EC-A454-2844A4C0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586" y="3512058"/>
            <a:ext cx="1839468" cy="388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C8044-5023-49F8-BAB9-36543E59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31067-31D0-417E-B50B-16B2E23B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193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1E6D1-AB66-4689-94F6-8076A01E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669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0098D-BF74-4B61-A8DA-FD4EE9AE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00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Autonomous hull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EAD93-28C8-4B80-8A9C-2BCA08B3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860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Shore, truck, small boat, or cutter deployable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B3513-A80B-4090-9D6F-72A0EB1E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38774-2BE6-4004-BFEB-4987CFD9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0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598E4-89D0-469F-A00B-9DD8FB6B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669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5CCA7-CD46-49DF-917E-721A34D9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Mission payload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46561-0AF7-4937-9A71-8B61C3EA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Optical, thermal, AIS, sonar, or other sensor kit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931A5-57F3-46BA-9BAA-6AAC9907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92148-67D6-4ED4-94CF-4B651C0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38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60E15-B03B-4A08-A982-08E37881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8617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3CD21-B040-47ED-92F0-D7A56643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19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Edge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3BD67-28B6-4A0B-9172-036C2081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052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Object detection, classification, route planning, alerting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9D32D-95F5-4CB2-8475-F4A7E74D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C35A8-3F84-404F-A166-275E51F1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7A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4F0F8-E745-4840-9982-67353120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8617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034350-4912-40A3-879C-FD459D9D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19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Operator console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FCEC17-4993-42F3-AC91-1B13EB10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Supervise multiple craft with clear override logic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621389-8405-4D1E-AD77-9E6B077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First product goal: find, classify, and report mission objects in littoral water with less human exposure and lower cost per search hour.</a:t>
            </a:r>
          </a:p>
        </p:txBody>
      </p:sp>
    </p:spTree>
    <p:extLst>
      <p:ext uri="{BB962C8B-B14F-4D97-AF65-F5344CB8AC3E}">
        <p14:creationId xmlns:p14="http://schemas.microsoft.com/office/powerpoint/2010/main" val="16338968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A38464-44B8-421E-8F5D-6F6BC819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E6785-25AB-4A31-BC47-4A986F9C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PRODUCT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EB7F2-5B10-4CD4-9852-27D21308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The defensible product is the mission loop: sense, decide, coordinate, and 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31103-F818-49EB-B28D-B30EA648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C0D14-7675-4ECE-A416-286FC55F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F1D7A-79EC-4AAC-B129-FEB58993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6F881-2EC2-408E-9D63-987353D7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BE8EC-26AF-462A-A571-58D802FB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Sensor 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B463D-BACB-466F-A934-F6F0B66C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Camera, thermal, AIS, side-scan sonar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25713-3361-44CB-BBEE-355A4D32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955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D23FB-3F10-442B-969F-E87F547C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479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rPr>
              <a:t>Edge autonomy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97702-5AD6-43B3-800C-ACC0B685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527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Navigation, obstacle behavior, COLREGs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C8C56-9B99-477A-A132-9DE7C0C0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3E8CA-7BF7-431D-9C74-8B92948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479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rPr>
              <a:t>AI classifier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33BCD-D12E-460D-82C1-F82B9A9B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527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Object detection, alert triage,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8A23B-A4E8-4367-B49D-BC6C8867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7C974-40F5-476A-A0CF-CA4A6267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rPr>
              <a:t>Fleet console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C07C5-3BE7-42E8-88CB-324F2D32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One operator, multiple small USVs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2A3AC-8FD1-4EF7-8DB8-BF5BB185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5762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B01E0-714E-4A5E-B073-8A8D74E4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1002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A3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B84A3B"/>
                </a:solidFill>
                <a:latin typeface="Aptos Mono"/>
                <a:ea typeface="Aptos Mono"/>
                <a:cs typeface="Aptos Mono"/>
              </a:rPr>
              <a:t>Mission 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4814B-9610-4CE7-9B9E-1729BD5A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1482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Audit log and replay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A23FE-3D32-4E11-9FAA-1FB227B2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71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9B3EE-583F-4A1C-AD4C-D2C7D295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E6B6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CF952-7E82-4F55-9CBC-364151C4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4C03E-4705-4493-8983-6DA71709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E6B6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9D0CCE-211A-4A12-84F6-40FEC52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2BA2D1-66A6-47E5-8F30-3CA41CB0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E6B6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750A8-F81A-44EB-8951-1D424C4A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6CDB3C-B321-4703-9236-3A4BBFC9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E6B6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5BBAAC-648C-43AA-8A72-25799872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752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CA406A-0214-4529-9B85-0103F1FE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67200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Proof object investors should demand: water-hour logs, detection precision/recall, deployment time, recovery time, comms failure behavior, and operator workload.</a:t>
            </a:r>
          </a:p>
        </p:txBody>
      </p:sp>
    </p:spTree>
    <p:extLst>
      <p:ext uri="{BB962C8B-B14F-4D97-AF65-F5344CB8AC3E}">
        <p14:creationId xmlns:p14="http://schemas.microsoft.com/office/powerpoint/2010/main" val="15633477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DA8D8A-ACEE-4254-B47B-A92B0DFF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FE20B-C81E-44D3-99D8-708ECCBD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INITIAL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1E9F7-4BA2-41D2-A26B-72FE2984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Start non-kinetic: object detection and search workflows create trust faster than weaponized use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55A82-20EF-48BC-8F0F-8AB790D7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336EE-4729-4A5A-8554-2DD07173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C4264-F9F1-440E-B1C2-774906A9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F601C-6C96-413C-952D-A132DA77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952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73ACD-D73E-4F91-9CAF-B96C24B6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Coast Guard / SAR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73871-DAFD-41A6-8D2E-545F032F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2609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Locate person-sized targets, debris, or hazards while expanding surface coverage.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95138-17ED-419F-AD7E-AA3B1BE1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62150"/>
            <a:ext cx="2952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C3D7A-BAA8-487E-A175-53D1FC19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rPr>
              <a:t>Harbor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4F196-0DA6-4C8D-AC61-73B1B47F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2609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Persistent patrol around ports, bridges, vessels, restricted zones, and event perimeters.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C6422-AB68-49D3-871B-8FCD9EE7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62150"/>
            <a:ext cx="2952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8CB06-8AC8-49B7-AC16-941BC043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rPr>
              <a:t>Mine-like object survey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E2D8C-F058-4385-ABC3-B8EBED88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2609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Shallow-water detection and classification before any dangerous neutralization mission.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B983A-106E-447A-A688-E17BD488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The beachhead should be a measurable mission with a fast pilot path, not a broad claim that it can do every maritime job.</a:t>
            </a:r>
          </a:p>
        </p:txBody>
      </p:sp>
    </p:spTree>
    <p:extLst>
      <p:ext uri="{BB962C8B-B14F-4D97-AF65-F5344CB8AC3E}">
        <p14:creationId xmlns:p14="http://schemas.microsoft.com/office/powerpoint/2010/main" val="5776627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5A4761-7488-4749-988C-BDB6F76E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03847-42B6-4D04-8ACA-248299E8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9AE68-13EC-40BF-89DA-1DE931AC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Market reports understate the timing signal: buyers are moving because missions are changing.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596B1-5428-41CE-A913-911CBEA9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7FC62-F017-405B-ADD6-FA83EAB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38A25-32F9-4DEC-9CAE-3266A3C5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F79D0-7FCD-4CB2-AC3A-2D121418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6960"/>
            <a:ext cx="1657350" cy="73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C7EB5-D823-46DF-B34C-6E71FAC9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60028-3F12-4B6E-BA02-06D50E72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026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$0.82B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9E098-3EA6-4B75-94A5-A89B7B8C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0505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A9248-A94B-4683-82A8-44D07B5A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100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DE99B-20F3-4C49-B376-981592B3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38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$1.59B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E2F1C-0CF7-4F06-8550-942AD018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MarketsandMarkets directional USV estimate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9899E-E946-4FF5-8B28-8F15E616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7885"/>
            <a:ext cx="1657350" cy="965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DEDED-C800-4A5D-A26D-505C15E6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3D4CD-73B8-48DC-ABF5-CA376DDD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0118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$2.4B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2E9AD-C145-4C56-99F5-D7018DDA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5EFC7-9B46-459F-8ADD-B59A7AC9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100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2034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E44B3-F1D7-42F8-B462-E55CB606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$3.55B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511C4-B359-49EE-8DCC-E11C9401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Fortune Business Insights broader USV estimate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2DE57-2A1A-4DB8-A3DA-34E02CDA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95875"/>
            <a:ext cx="975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Better lens: budgets for maritime domain awareness, mine countermeasures, port security, search and rescue, and unmanned fleet experimentation.</a:t>
            </a:r>
          </a:p>
        </p:txBody>
      </p:sp>
    </p:spTree>
    <p:extLst>
      <p:ext uri="{BB962C8B-B14F-4D97-AF65-F5344CB8AC3E}">
        <p14:creationId xmlns:p14="http://schemas.microsoft.com/office/powerpoint/2010/main" val="1472173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AEA5B7-F299-47D6-ACB1-D0D6BDF8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1E8E4-331F-4C8D-B964-4B84BE7A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COMPETITION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DA2C9-8E78-4FDB-9E41-0618C94A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The space is crowded, so the deck must sell a wedge rather than a category.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15DC8-99BA-4BC9-A6FC-CC4E63A0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FE7C4-09DA-4039-92BA-1C7C146D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A480F-60E2-4276-88D6-1B8A59E8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004EC-D324-42B8-A5E0-E2F42F2A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49567-263D-4FB2-90E9-4AE5C38E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Company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5087A-E2EB-4441-BEB4-40AF7B6B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66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Main angle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20C6C-0E07-4045-91B6-3F46A7B3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66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64BCF-78A4-4D1A-A161-FB8F019F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53ED1-0369-4C01-B559-44619059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Saronic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C9C79-4995-4AB2-A301-33B49D13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Defense-first ASVs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85202-8DE1-4721-994E-9DC82B5F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Well-funded production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FD6F0-879D-4590-9DF6-A41DC872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2B89E-CB39-4644-8103-348F1EBB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Saildrone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DF69D-B10E-4915-9DCF-AD688530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Long-endurance MDA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B6E65-B5F5-4F5F-B302-4A592FDA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051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Fleet data and operating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FB904-89F3-48C5-9ED3-E8A3D263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D2E74-5014-497D-99F0-FFBD8ACD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HavocAI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1945C-C2A2-4993-96E9-1602B847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Collaborative USV autonomy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63CF3A-55E8-49F8-9A14-4CB1ED00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813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Small-to-medium attritable systems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BE0E8-FCAA-4035-85FF-D4F7DC0F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F2CA6-9AF0-4B6B-A30E-4A225A22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MARTAC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B006C-FFDA-41EA-A403-EB21B0CE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576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Man-portable USVs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8D5C6-B5A1-4C00-9E76-74B15D04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576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Defense and SOF mission breadth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C7F5AD-AEA4-4C2C-9D03-A37E5600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62529-26EA-4876-945C-C35FA36E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Textron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723094-2446-4638-A0CC-B31677B5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33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Program USV / MCM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043CA-529C-49F7-8B47-24529A73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338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Prime scale and towing payload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F1A89F-3A05-4C77-8B1D-0F86FA77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DAC9BA-BDC5-469B-B6D5-67329527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Hydronalix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D488EC-F370-4C8D-AAC6-C8913A15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SAR / small rescue USV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541E27-D394-45C5-88C9-4CF917C8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101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First-responder footprint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A5BF7C-3DC5-4410-8369-F6432F79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1000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Positioning gap to test: smaller than defense ASVs, more mission-capable than first-responder rescue craft, cheaper and faster to pilot than prime-led systems.</a:t>
            </a:r>
          </a:p>
        </p:txBody>
      </p:sp>
    </p:spTree>
    <p:extLst>
      <p:ext uri="{BB962C8B-B14F-4D97-AF65-F5344CB8AC3E}">
        <p14:creationId xmlns:p14="http://schemas.microsoft.com/office/powerpoint/2010/main" val="3416782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331F5-3A2A-4058-847C-518DB11E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7DDE7-BA81-4636-8B65-AB14A3C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1E9FF-3B36-423B-B3BF-40A6D486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Hardware opens the door; recurring software, support, and mission services make the business.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D3DBF-1FBE-4F53-BE81-A4192A9C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3AB70-D54A-4A52-A5DB-4323A50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1364A-B558-461C-A96D-AD2AA595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BCE97-E79E-4496-94D7-659451F1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028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8CF68-C449-43F0-8B20-44C58CBD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Hardware sale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6CEB0-5215-485C-BE01-14FD1B2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686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USV, payload kit, chargers, spares, field kit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Gross margin improves with production discipline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2B2AA-F49C-4B1C-9B7B-BD339849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028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84240-841E-4F46-8AC5-D2C00DE6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rPr>
              <a:t>Software +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748E9-5171-4CD2-9AC3-572A7917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2686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Autonomy, mission planning, classification, logs, fleet console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Recurring margin and expansion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AF1B4-E0D9-48E5-B1D1-1F9ACF76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3028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DC871-5BF8-470B-A087-056E8F82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rPr>
              <a:t>Mission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F4B32-D7FB-49AB-B14B-4A16BC61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2686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Contractor-owned / operated search, survey, MDA, or inspection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Faster early revenue where buyers lack operators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3645B-A402-464F-BB22-2E0C23BC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North-star unit metric: lower cost per search hour, square mile covered, or confirmed object than crewed boats, aerial drones, and existing USVs.</a:t>
            </a:r>
          </a:p>
        </p:txBody>
      </p:sp>
    </p:spTree>
    <p:extLst>
      <p:ext uri="{BB962C8B-B14F-4D97-AF65-F5344CB8AC3E}">
        <p14:creationId xmlns:p14="http://schemas.microsoft.com/office/powerpoint/2010/main" val="21171286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40126C-14D6-49CF-AE92-143395CA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C98A1-657E-447D-8C87-981E83DB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GO TO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BC895-0010-48A1-AA74-362C3D7D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Win trust through sponsored demos, not slideware.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3595B-D08D-4E15-815C-F8A7E2EA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CC0DD-7E1A-4AD4-AAD3-1B0C5FF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8B318-B51D-42AA-AEAD-3F08A851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86865-0E81-4AEA-9E14-2D75732C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038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8B604-0CE9-4DEA-B47B-03D10DDB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0-90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87E9D-C1EB-4B98-98B5-0EA7709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228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Build or retrofit one water-tested prototype around a single mission metric.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6CB79-8BC9-4C56-BDFC-B52B5A83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7122D-C48F-477D-A071-4EC5E1FC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33650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6B6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B0DA5-6CFD-45F1-98E2-4E710B92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038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116CE-6B39-4FB0-9289-A66777A7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4317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3-6 months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1561A-A739-42CB-983B-9FF61D17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14700"/>
            <a:ext cx="2228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Run structured pilots with SAR, port security, Navy/MCM, or Coast Guard-adjacent users.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820F6-4D61-4122-B48D-6FCF773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D9EB9-833C-4529-8FB3-57819FD3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6B6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61A88-E62C-49AF-A9F3-AE56C402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2038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0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535AA-4830-4D81-8F0C-B62DE6FE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6-12 months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4ADFA-D602-4049-98D1-06097167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2228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Convert best use case into paid demo, non-dilutive funding, or strategic pilot.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BF691-F736-446D-8E4B-E687A63E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D90FB-A2E3-4853-B160-E436035C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6B6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33074-A593-4D44-BF7B-9E540A63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038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7A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1F4AF-A91A-4D37-B18D-FF9B9E57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4317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12-18 months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84DFB-1BB7-4F60-99AA-981A2138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2228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Package repeatable product: hull, payload, autonomy, console, training, support.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79E1E-6BBF-4363-93A3-25D9F6FD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967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Avoid starting with a weaponized sea bomber pitch. Start with sensing, safety, survey, and command workflows that buyers can test legally and quickly.</a:t>
            </a:r>
          </a:p>
        </p:txBody>
      </p:sp>
    </p:spTree>
    <p:extLst>
      <p:ext uri="{BB962C8B-B14F-4D97-AF65-F5344CB8AC3E}">
        <p14:creationId xmlns:p14="http://schemas.microsoft.com/office/powerpoint/2010/main" val="20967524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63D318-169F-4CC2-B726-BB854E66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EB97D-7083-4D5F-B99F-950E46DA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TRACTION / PROOF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44D36-033A-43E4-88A2-0C792C70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No traction has been provided yet, so the seed story should sell the next proof points explicitly.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90CFC-54FA-43D5-9ACB-5C0EDB6D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81E03-5C33-4B99-A06E-D3FB91A0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E97D4-3891-4676-826C-620EEC65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AA10B-D9A8-4879-8DF3-9AED3860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BB008-D76A-4BB4-A5F3-FEC3EBB5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Field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B45E4-1E36-45F0-8D7B-F1D3E701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4133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Autonomous waypoint mission, obstacle behavior, and recovery in real water.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EBC49-2641-4664-ACA1-414B5B6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2405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18D1C-785E-4218-A2D3-852C8C23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764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rPr>
              <a:t>Detection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49883-5721-4133-9FB0-F7E0E352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81250"/>
            <a:ext cx="4133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Precision / recall on person-sized, debris-like, or mine-like objects.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BF061-2BD9-4BAC-B61F-C7412D71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F5C7D-2822-414C-A481-4E2C191A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rPr>
              <a:t>Buyer pull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2B828-E18D-4DE8-AB25-9FBEC759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4133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15-25 structured interviews and 2-3 letters of support or demo sponsors.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28340-02F9-416D-907E-BDD43E17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4805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54186-D763-4C7E-84D2-CFAEBF74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004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rPr>
              <a:t>Cost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395ED-204B-4F18-9E1E-E84D33D5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4133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Measured deployment time, operator load, and cost per search hour.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ECBDA-3A96-4A9B-A249-35F27CAD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91125"/>
            <a:ext cx="929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A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4A3B"/>
                </a:solidFill>
                <a:latin typeface="Aptos"/>
                <a:ea typeface="Aptos"/>
                <a:cs typeface="Aptos"/>
              </a:rPr>
              <a:t>Investor posture: this is a strong pre-seed concept only after water-hour evidence and buyer-discovery signal exist.</a:t>
            </a:r>
          </a:p>
        </p:txBody>
      </p:sp>
    </p:spTree>
    <p:extLst>
      <p:ext uri="{BB962C8B-B14F-4D97-AF65-F5344CB8AC3E}">
        <p14:creationId xmlns:p14="http://schemas.microsoft.com/office/powerpoint/2010/main" val="32418409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0B0114-E9B2-49B9-9DE3-62C57F6D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A3861-B870-4301-94FA-2157C338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84424-A3A2-40D3-B981-6BDA2052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The founding team must credibly combine maritime robotics, field operations, and defense acquisition.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974A5-3558-4344-ACED-EF24B58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F9BEE-6D99-49EE-B6A2-473E9C71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BA3D0-C516-444C-855D-A6E71CF8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A9E15-5D04-4D9A-A0D3-6ED664A0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17C5C-0199-4D95-8ACC-30FF57A4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Autonomy / perception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D908D-CC6F-4E13-A7FB-FC1198FB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413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Edge AI, sensor fusion, navigation, low-bandwidth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CFE83-05D5-48DE-B8BB-BBEAC0D7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52625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DC31A-45D0-49B7-8F66-12554042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05025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rPr>
              <a:t>Marine 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F5A80-1A29-4352-AC98-F2C71B21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9825"/>
            <a:ext cx="413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Saltwater ruggedization, propulsion, power, launch/recovery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DDFBB-7C51-4BB6-AC53-A7DB2904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62844-887F-4125-8111-330F1808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rPr>
              <a:t>Mission operator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4F471-11EE-4698-8F7B-E409EF1E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413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Coast Guard, Navy, SAR, port security, or MCM domain experience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B1B5D-DBF8-4FB5-A681-A2920DDC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38525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ABA10-B0A0-4161-BAD8-172F6799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90925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rPr>
              <a:t>Defense GTM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92FEF-B04F-4443-AA5E-80E5FB7D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95725"/>
            <a:ext cx="413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SBIR/OTA, pilots, primes, cybersecurity, sustainment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1C4BD-2640-4DF2-87DB-820C78AE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F"/>
          </a:solidFill>
          <a:ln xmlns:a="http://schemas.openxmlformats.org/drawingml/2006/main" w="9525">
            <a:solidFill>
              <a:srgbClr val="E8C7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B2471-7A32-4B13-8E5D-C8639449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A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4A3B"/>
                </a:solidFill>
                <a:latin typeface="Aptos"/>
                <a:ea typeface="Aptos"/>
                <a:cs typeface="Aptos"/>
              </a:rPr>
              <a:t>Editable placeholder: add founder bios, advisors, military/maritime credentials, prior exits, patents, and field-test history here.</a:t>
            </a:r>
          </a:p>
        </p:txBody>
      </p:sp>
    </p:spTree>
    <p:extLst>
      <p:ext uri="{BB962C8B-B14F-4D97-AF65-F5344CB8AC3E}">
        <p14:creationId xmlns:p14="http://schemas.microsoft.com/office/powerpoint/2010/main" val="17930071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3F73AE-C861-42FF-89E8-34A0759C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62D26-CBAD-488C-A642-93E2AE91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4E6AA-DF1A-4672-A895-1CE56941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Assumed pre-seed ask: $1.5M to prove a narrow mission wedge in real water.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215F6-D935-4EFB-B704-5C80D28D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C9099-2604-4892-AA74-8AC40162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FEA67-0CC5-4990-A8DC-B0F03056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1902A-8F18-40E3-A9F9-CE6319F6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BE358-533F-47A9-BA7A-3EAC6DB6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C7C7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C7C7D"/>
                </a:solidFill>
                <a:latin typeface="Aptos Display"/>
                <a:ea typeface="Aptos Display"/>
                <a:cs typeface="Aptos Display"/>
              </a:rPr>
              <a:t>$1.5M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C4DB8-617A-4FAA-9F2F-CBE873CD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62225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Pre-seed target assumption; replace with final raise amount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C4CFF-378B-463A-980B-A1AC1F0B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1A1B7-FD55-4D97-8D30-81D949BD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6A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F66A3"/>
                </a:solidFill>
                <a:latin typeface="Aptos Display"/>
                <a:ea typeface="Aptos Display"/>
                <a:cs typeface="Aptos Display"/>
              </a:rPr>
              <a:t>18 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8CD37-A898-4187-8ACA-30C21501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Runway to field demo, buyer proof, and seed-ready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EF569-4AB1-46B0-A263-5B9A1863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05D11-3E5F-40DE-A1E5-75E91644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0703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07035"/>
                </a:solidFill>
                <a:latin typeface="Aptos Display"/>
                <a:ea typeface="Aptos Display"/>
                <a:cs typeface="Aptos Display"/>
              </a:rPr>
              <a:t>3 pilots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F653A-03BD-4B33-92C6-FE5BFE72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62225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Target sponsored demos across SAR, port, or defense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748FC-AD90-45FC-AD45-5320F7BD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F2420-A665-4C6D-83D6-EF6A82CD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145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7A4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677A41"/>
                </a:solidFill>
                <a:latin typeface="Aptos Display"/>
                <a:ea typeface="Aptos Display"/>
                <a:cs typeface="Aptos Display"/>
              </a:rPr>
              <a:t>1 wedge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308A6-D190-4F2A-A8F4-7DBB41E3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62225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Pick one mission before scaling into adjacent applications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D3A2D-C89F-495F-88CB-59B96060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C7C7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C7C7D"/>
                </a:solidFill>
                <a:latin typeface="Aptos"/>
                <a:ea typeface="Aptos"/>
                <a:cs typeface="Aptos"/>
              </a:rPr>
              <a:t>45%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2389B-B5B4-480A-9A21-E23ACD7D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1480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53986-B614-495C-8D90-CD5766CC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005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engineering, autonomy, and sensor integration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3DDC7-B698-4078-A863-12742051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F66A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66A3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620D2-20F1-4096-BF72-FE817674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148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697CD-C4AB-4927-B2A1-2E461EF0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005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prototype build, spares, field testing, and reliability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84122-020F-4147-8098-84419AEB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006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E070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07035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DE2DD-68C9-4726-97AC-05126146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14900"/>
            <a:ext cx="1600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0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9C1617-2AB3-4797-8745-438F8AED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006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pilot operations, compliance, cybersecurity, and support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DA6B28-7220-4A04-AE8D-F5AC34E7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006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677A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77A41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EC969C-5B58-44B1-80C6-6E39E62C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14950"/>
            <a:ext cx="1962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7A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C4108-987D-4DBE-9113-17AAD740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006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defense GTM, advisor network, and admin</a:t>
            </a:r>
          </a:p>
        </p:txBody>
      </p:sp>
    </p:spTree>
    <p:extLst>
      <p:ext uri="{BB962C8B-B14F-4D97-AF65-F5344CB8AC3E}">
        <p14:creationId xmlns:p14="http://schemas.microsoft.com/office/powerpoint/2010/main" val="169276549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FB4F4-2D31-47EA-9B22-9830FFC0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6022A-B0C1-48F3-9F5E-ADAB47EE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APPENDIX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D27FF-0F8F-443E-B9AF-631F5E6E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Defense, Navy, and mine-countermeasure applications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8AD7A-38CD-4C00-B25C-A0A8BD88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6FFC7-B301-4075-BAA7-1A36C809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54815-E35B-469F-A624-9863180D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FD872-90A3-4CD4-9F3D-127C8AB3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0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2288D-71E7-41F8-BF1B-9B91825E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07035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07035"/>
                </a:solidFill>
                <a:latin typeface="Aptos Mono"/>
                <a:ea typeface="Aptos Mono"/>
                <a:cs typeface="Aptos Mono"/>
              </a:rPr>
              <a:t>MISSION 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876D2-1911-4354-A2C2-07B352E1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438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08501-B768-4FF2-9D68-6B32228C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rPr>
              <a:t>MCM / mine-like object survey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EE67E-D847-432D-9A6D-FDC9D06B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Survey shallow grids, classify contacts, reduce diver and crew exposure.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E6744-4E23-4976-AD74-BD230484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4438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7AF0B-F40E-4CF2-954D-EF288445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rPr>
              <a:t>Harbor and force protection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B8826-24E1-4CB2-A0C4-45CC2227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908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Patrol restricted water, detect vessels, swimmers, debris, or anomalies.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53F61-F5EE-4A56-930C-F0A8D3DB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438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DF724-35B2-454F-B157-A8BA5CCA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Attritable fleet scout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1A9C3-E5D4-41CD-B2BC-97A08628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Low-cost forward sensing node for distributed maritime operations.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0B1A5-C8A3-477E-9D31-46DC1831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86150"/>
            <a:ext cx="4438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002C7-784E-40B6-955C-E782DE58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rPr>
              <a:t>Range and training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91599-589C-4CBB-A4E2-27D00B07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Recoverable target, telemetry, safety, and object-detection platform.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46E70-1FF7-4633-844F-117577BE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Key diligence gate: prove the small form factor can carry enough sensor, power, compute, and communications for the selected defense mission.</a:t>
            </a:r>
          </a:p>
        </p:txBody>
      </p:sp>
    </p:spTree>
    <p:extLst>
      <p:ext uri="{BB962C8B-B14F-4D97-AF65-F5344CB8AC3E}">
        <p14:creationId xmlns:p14="http://schemas.microsoft.com/office/powerpoint/2010/main" val="11359051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E559E5-E32D-49FA-A639-5106927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535DF-B9A0-4259-8C8B-CF7C8B35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APPENDIX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87FC1-D223-4E2C-8642-BC256A01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Coast Guard, SAR, and public-safety applications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96F4E-3E25-42B3-B37E-6CC1CE11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071DD-DC9F-4384-BE38-BE645B30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08825-5286-4FF0-8289-70031CCA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F3EF1-237F-4671-9A1B-E9173F74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E4FD2-CD2F-492C-9D2A-3E148F3A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FASTEST TRUST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D78C0-275D-40C9-8B5E-6D8B42B6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438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27204-5F89-43D8-8DEF-DE2DC9D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Search and rescue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7576B-951A-40EE-B674-0168373F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Launch quickly, search grid, flag person-sized targets, stream location to incident command.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730B0-5CA6-4B54-AABC-470B3CC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4438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9F75B-EF71-4AE0-97E5-ADE2C390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rPr>
              <a:t>Maritime domain awareness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E672D-32B8-4903-9DF6-9B42C727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908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Support patrol and monitoring without crewing another surface asset.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E1D49-BE39-4ED2-BBA9-F66377E5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438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492F7-0CDA-4A86-BCEB-50B89F28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rPr>
              <a:t>Flood and disaster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46B53-A041-415E-B5FB-64E1FA02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Operate where roads, bridges, and launch points are compromised.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0E956-BFE2-475D-ABFE-0C922977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86150"/>
            <a:ext cx="4438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C4D23-CDD9-43AC-B22B-8FAE4685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rPr>
              <a:t>Port and bridge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1285E-11CA-428E-8152-BCF1647A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Patrol high-value infrastructure and create a replayable mission record.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B4EA2-DBCD-4DE0-BBAE-4A0AF9AE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967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Why this appendix matters: SAR and public-safety use cases may be less capital-rich than defense, but they can produce faster field evidence and mission credibility.</a:t>
            </a:r>
          </a:p>
        </p:txBody>
      </p:sp>
    </p:spTree>
    <p:extLst>
      <p:ext uri="{BB962C8B-B14F-4D97-AF65-F5344CB8AC3E}">
        <p14:creationId xmlns:p14="http://schemas.microsoft.com/office/powerpoint/2010/main" val="22769047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FF05F-E86E-4E4F-A387-3A5503EA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4B53F-F4C1-47FB-B222-97B89056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APPENDIX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1192E-2D71-4AC8-9564-0B4EC186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Investor and strategic target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B08B1-D66F-4914-A691-182E46A0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34F30-2A50-4B08-94C4-BF7ED978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75F65-7C59-4BE8-A766-ECD37E68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F5088-7EA2-48CD-8C86-493ABCF4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552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1437C-0F93-4CC3-BA05-7A6439CE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Defense-tech VC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2E200-8B1F-452D-89C8-81475F5F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210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Shield, Scout, 8VC, a16z American Dynamism, Outlander, Veteran Fund, Decisive Point, New North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D6F61-E1E0-4D80-BAA2-ABA598E9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4552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2DC4A-761C-4730-9A31-66EAB2C1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6A3"/>
                </a:solidFill>
                <a:latin typeface="Aptos Mono"/>
                <a:ea typeface="Aptos Mono"/>
                <a:cs typeface="Aptos Mono"/>
              </a:rPr>
              <a:t>Maritime / robotics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090EA-FCF7-4889-B3FE-1440FF67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4210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Caffeinated, Lux, Konvoy, DNS, Techstars, S2G, Energy Innovation Capital, TechNexus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9E887-A0DE-4CEC-B113-5035FA13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52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84DFC-67D6-4554-BA93-0D794E27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07035"/>
                </a:solidFill>
                <a:latin typeface="Aptos Mono"/>
                <a:ea typeface="Aptos Mono"/>
                <a:cs typeface="Aptos Mono"/>
              </a:rPr>
              <a:t>Strategic arms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329C0-BFD7-4111-A5CA-DA869B6E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210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Lockheed Martin Ventures, RTX Ventures, Boeing / AEI HorizonX, Kongsberg Innovation, HII channels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0A289-7A0C-4F3D-BE70-89BC6BDE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4552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5A1D3-0C1D-4F35-B335-98C8CB8D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77A41"/>
                </a:solidFill>
                <a:latin typeface="Aptos Mono"/>
                <a:ea typeface="Aptos Mono"/>
                <a:cs typeface="Aptos Mono"/>
              </a:rPr>
              <a:t>Potential advisors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FB6A6-C7F8-4DE0-A8E0-C197AD36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4210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TF59 alumni, USCG RAS context, Navy MCM/EOD experts, defense GTM operators, SAR leaders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BFA47-EB7C-47C4-8449-2DF06DA4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A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4A3B"/>
                </a:solidFill>
                <a:latin typeface="Aptos"/>
                <a:ea typeface="Aptos"/>
                <a:cs typeface="Aptos"/>
              </a:rPr>
              <a:t>Outreach rule: lead with the mission wedge and proof plan; do not pitch a generic AI boat.</a:t>
            </a:r>
          </a:p>
        </p:txBody>
      </p:sp>
    </p:spTree>
    <p:extLst>
      <p:ext uri="{BB962C8B-B14F-4D97-AF65-F5344CB8AC3E}">
        <p14:creationId xmlns:p14="http://schemas.microsoft.com/office/powerpoint/2010/main" val="163249458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592D6-8E10-41DF-9202-FBF104BD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8F20B-FC8B-41B1-AD68-5CA21C3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C7C7D"/>
                </a:solidFill>
                <a:latin typeface="Aptos Mono"/>
                <a:ea typeface="Aptos Mono"/>
                <a:cs typeface="Aptos Mono"/>
              </a:rPr>
              <a:t>APPENDIX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A1486-64C8-4C4F-9E44-E2F0A1B1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Source notes and open assumptions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BE517-4531-4D7D-8988-045018E0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61367-70C4-479C-9BE1-B6393DE6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HarborScout AI | Appendix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FC2B1-6E17-40D3-A885-BE7354CC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38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2026-05-26 |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10554-180B-4A75-A568-B4914643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0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3B2E8-AEE3-44A3-90A5-7953C1D9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33550"/>
            <a:ext cx="9563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YC structure reference: YC seed deck template emphasizes clarity, concision, problem, solution, traction/proof, model, growth, team, and ask.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498F6-30DB-4035-B579-6FAB3010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A4520-FA2B-4A96-ACBD-931ECD2A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9563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Market figures are directional: MarketsandMarkets estimates USV at $0.82B in 2025 to $1.59B in 2030; Fortune Business Insights uses a broader $2.4B in 2025 to $3.55B in 2034 estimate.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07AD9-1B01-402F-86E7-EA5872D2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F3D65-765C-4393-AB68-CB4E842D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9563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Adoption signals: Navy MCM USV, Navy Task Force 59, Coast Guard RAS PEO, Coast Guard MDA pilots, and public funding momentum around Saronic, HavocAI, Seasats, and Saildrone.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0311A-FC06-4F10-8655-FFCFD8B5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AFF7B-DC56-40C0-9DB2-181916B1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563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Unknowns to replace before sending: final company name, founder bios, prototype status, traction metrics, customer conversations, exact raise amount, and detailed use of funds.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76E0C-AA3D-400E-8A67-176B1457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197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6"/>
                </a:solidFill>
                <a:latin typeface="Aptos"/>
                <a:ea typeface="Aptos"/>
                <a:cs typeface="Aptos"/>
              </a:rPr>
              <a:t>Primary source links are in the EIR memo and Notion investor/advisor map created on 2026-05-26.</a:t>
            </a:r>
          </a:p>
        </p:txBody>
      </p:sp>
    </p:spTree>
    <p:extLst>
      <p:ext uri="{BB962C8B-B14F-4D97-AF65-F5344CB8AC3E}">
        <p14:creationId xmlns:p14="http://schemas.microsoft.com/office/powerpoint/2010/main" val="1729760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2026-05-26T22:04:39.5230000Z</dcterms:created>
  <dcterms:modified xsi:type="dcterms:W3CDTF">2026-05-26T22:04:39.5230000Z</dcterms:modified>
</coreProperties>
</file>